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Introduce yourself and the FoSTaC programme. Emphasise this is a certification session and attendance + assessment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brief and human. One credibility-building anecdote.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safety/exits, restrooms, and the assessment expectation.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day; reassure there are regular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objectives; tell learners the assessment maps to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Schedule 4 Part II of FSS (Licensing &amp; Registration of Food Businesses) Regulations, 2011.</a:t>
            </a:r>
          </a:p>
          <a:p/>
          <a:p>
            <a:r>
              <a:t>Use as an icebreaker; don't dwell — reveal answer, note we'll cover it 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it real and personal before the regulation.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numbers illustrative; emphasise prevention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controls to the real end-user.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compliance as enabling growth, not blocking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growth to the compliance burden supervisors now carry.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Precision here prevents claim violations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each category has its own schedule &amp; labelling nuances.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Foreshadow Module 4; each form reappears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today sits inside this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legal detail light; focus on FBO responsibility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FoSTaC is FSSAI's own capacity-building programme — that's why you're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nutraceutical manufacturers = Central Licence + Schedule 4 Part II (today's basis).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FBO vs FSS accountability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Empowerment message — supervisor must be able to halt unsafe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schedules define what's legal to put in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Formulation legality is a common audit finding — verify every ingredient is 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this for R&amp;D-driven units launching new actives.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Preview; Module 5 goes deeper. Stress veg/non-veg symbol &amp; 'not for medicinal use'.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 are a top enforcement area for supplements.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updated each cycle; regulations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Great engagement slide — let them find the errors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scare-monger; frame as why prevention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Nutraceutical labels must carry 'Not for medicinal use' and the veg/non-veg symbol; disease claims are prohibited, '100%' is discontinued, and batch number is mandatory.</a:t>
            </a:r>
          </a:p>
          <a:p/>
          <a:p>
            <a:r>
              <a:t>Reinforce the medicine boundary &amp; mandatory label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Bridge: 'Now we go to the plant floor — Module 1, Location, Layout &amp; Facilities.'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building itself is your first control. Poor layout designs contamination in; good layout designs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objectives to the audit checklist at the end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Contamination often enters from outside — surroundings are part of GMP.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photos; let them judge before you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a simple one-way flow on the whiteboard.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air-class slide; sampling/dispensing gets RLAF ISO 5, others ISO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air-locks/change rooms as flow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Cracks &amp; open drains are classic audit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to pest control in Module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Contact-surface integrity is critical for solid dosage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Dead-legs &amp; right-angle bends trap residue — call them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10500 + semi-annual is a frequently-checked audit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RLAF ISO 5 applies to sampling/dispensing only — contact &amp; storage are ISO 8 (corrected per guidance).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0.5 mm WC is the guidance figure; explain magnehelic gauges.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540/220/110 lux; covers are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to Module 6 personal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learners to photograph this as a job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 — Minimum 0.5 mm of Water Column (per the FSMS guidance).</a:t>
            </a:r>
          </a:p>
          <a:p/>
          <a:p>
            <a:r>
              <a:t>Also re-ask air class &amp; lighting values verbally.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can't make a safe product from unsafe inputs. Material control is where safety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material handling as the front gate of the FSMS.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AVL absence/expiry is a common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Substitution without re-approval is a frequent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Vehicle suitability + CoA verification are audit staples.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Botanical origin drives both identity and contaminant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Species substitution/adulteration is a real botanical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RLAF ISO 5 for sampling from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control prevents unreleased material use — a serious 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Storage temperature monitoring records are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FEFO beats FIFO when shelf lives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mandatory checks for botanical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Traceability underpins recall — tested in Module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group outputs to the Module 1/2 audit checklists.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deadline-vs-QC tension — supervisor must protect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 — FEFO (First-Expiry-First-Out) issues the earliest-expiring stock first.</a:t>
            </a:r>
          </a:p>
          <a:p/>
          <a:p>
            <a:r>
              <a:t>Re-ask: what tests are mandatory for botanicals? (heavy metals, aflatoxins, pesticides, micro).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batch errors are designed in before the first machine runs. Pre-production discipline prevents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as 'right-first-time' before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Weighing errors propagate through the whole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clearance failures cause product mix-ups — a serious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Rinse-water &amp; swab tests are the evidence auditors ask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Sieve integrity + magnetic grill are CCP candidates (Module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Blend uniformity underlies content uniformity in tablets/capsules.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Residual solvents &amp; marker standardization are key extract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BMR completeness &amp; contemporaneity are core audit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'Three batches, risk-justified' matches the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Unmanaged change is a root cause of many deviations.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learners critique a photo before revealing.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Verify with a visual check plus rinse-water and/or swab tests, per a validated procedure.</a:t>
            </a:r>
          </a:p>
          <a:p/>
          <a:p>
            <a:r>
              <a:t>Reinforce line clearance &amp; double-check weighing.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dosage form has its own hazards. Controls must be form-specific, not generic.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dosage-form-by-form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IPC is how you catch drift before a whole batch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Qualification underpins validation &amp; consistent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Carry-over between products is a major cross-contamination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8 match the guidance; segregation + run-sequencing is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CCP discussion (sieving + metal detection).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CCPs to Module 8 HACCP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HPMC vs gelatin — veg vs non-veg symbol implication.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Shell source drives the veg/non-veg declaration.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Protein powders — allergen (milk/soy) and dust are big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Effervescent &amp; hygroscopic powders need low RH.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Liquids are the highest microbial-risk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UV tunnel for containers is a common OPRP.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Effervescent = humidity discipline; gummies = micro +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Uncontrolled rework is a frequent serious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to Module 7 QC &amp;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Directly foreshadows the HACCP CCPs in Module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Contemporaneous recording is the key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outputs for Module 8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Sieve integrity (final sieving) and metal detection are the classic tablet-line CCPs.</a:t>
            </a:r>
          </a:p>
          <a:p/>
          <a:p>
            <a:r>
              <a:t>Reinforce allergen segregation &amp; liquid microbial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safest tablet is worthless if it's mislabelled, contaminated in storage, or can't be recalled.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packaging &amp; distribution as the last line of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Packaging migration &amp; seal integrity are real safety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 mix-ups &amp; wrong dating are frequent serious NCs.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Coding underpins recall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FG storage conditions must match the label's storage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Distribution records are essential for recall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Mock-recall effectiveness is an audit expectation.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capability = traceability + a tested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Ties traceability (M2) to recall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FSS (Food Recall Procedure) Regulations, 2017.</a:t>
            </a:r>
          </a:p>
          <a:p/>
          <a:p>
            <a:r>
              <a:t>Reinforce label reconciliation &amp; FEFO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contamination is carried by hands, hair, clothing and health. Hygiene is culture, not a poster.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it personal — this module is about each participant's daily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Pre-employment + annual is the guidance requirement —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reporting culture — not punishment — keeps product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Gowning sequence &amp; no-loose-items are common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live demo/GloGerm activity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Supervisor modelling drives the whole team's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'spot 8 violations' photo for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Great energiser after lunch; keep it light but rigorous.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Pre-employment and thereafter annually (plus when clinically indicated).</a:t>
            </a:r>
          </a:p>
          <a:p/>
          <a:p>
            <a:r>
              <a:t>Reinforce reportable conditions &amp; 'fit to join'.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services are where audits are won or lost — they prove the whole FSMS actually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these as the 'proof engine' of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agreements clarify who does what on contract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4D is the memorable framework — link to Module 1 building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 analysis of catches shows an audit you're 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evidence (swab/rinse) is what auditors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Waste &amp; drainage link back to Module 1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Loose-item control prevents physical hazards.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Out-of-calibration reaction plans are often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validation &amp; accredited external labs are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Retention: same/simulated container per shelf life (per guidance).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Contaminant panel matches Module 2 — reinforce.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are the embodiment of this slide — bring it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audit + CAPA culture is what maturity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integrity (ALCOA) — contemporaneous &amp; attributable.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Deny access, Deny food &amp; water, Deny harbourage, Destroy.</a:t>
            </a:r>
          </a:p>
          <a:p/>
          <a:p>
            <a:r>
              <a:t>Reinforce calibration tagging &amp; retention-sample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HACCP is where all prior modules converge into a systematic, documented control of hazards.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workshop module — keep it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PRPs are weak, everything becomes a 'CCP' — fix the base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5+7 structure before the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On-site confirmation of the flow diagram is frequently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Module 4 CCP-mapping activity outputs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Liquids &amp; gummies carry the highest microbial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Allergens are managed as a chemical hazard in HACCP.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hazards are the classic tablet-line CCPs.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3×3 matrix live; place a few hazards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tree is a tool, not a mandate — judgement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deck's tablet-line CCP examples (sieve, metal detector).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'What-Where-How-When-Who' is the monitoring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Corrective action = fix now + prevent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by someone other than the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Documentation is Principle 7 — the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mirrors a real tablet-line plan; note metal detector vs magnetic grill are both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capstone activity — allow time; debrief each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'house' metaphor to tie all modules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learners to self-audit against this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maps to the printable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Distribute the 30-Q paper (see appendix); invigilate; then review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current pass mark &amp; validity per FoSTaC norms at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a self-audit and a mock recall within 30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 — Strong prerequisite programmes (GMP/GHP) with HACCP on top, held together by documentation, traceability and a tested recall system.</a:t>
            </a:r>
          </a:p>
          <a:p/>
          <a:p>
            <a:r>
              <a:t>A satisfying closing consolidation before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participants; share contact; invite feedback; distribute certificates after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73152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FoSTaC TRAINING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7899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ontserrat"/>
              </a:rPr>
              <a:t>Food Safety Management System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7D2F0"/>
                </a:solidFill>
                <a:latin typeface="Montserrat"/>
              </a:rPr>
              <a:t>for Health Supplements &amp; Nutraceuticals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7D2F0"/>
                </a:solidFill>
                <a:latin typeface="Aptos"/>
              </a:rPr>
              <a:t>Full-day certification training · Schedule 4 Part II · FSSAI FSMS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Presented by </a:t>
            </a:r>
            <a:r>
              <a:rPr sz="1600" b="1">
                <a:solidFill>
                  <a:srgbClr val="E8A020"/>
                </a:solidFill>
                <a:latin typeface="Poppins"/>
              </a:rPr>
              <a:t>Tarun Pratap Singh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2F0"/>
                </a:solidFill>
                <a:latin typeface="Aptos"/>
              </a:rPr>
              <a:t>Certified FoSTaC Trainer · ISO 22000 Lead Auditor · TPS Xperts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2F0"/>
                </a:solidFill>
                <a:latin typeface="Aptos"/>
              </a:rPr>
              <a:t>01st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Your Trainer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Certified FoSTaC Master Trainer with hands-on nutraceutical GMP &amp; audit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Certified FoSTaC Trainer · ISO 22000 Lead Auditor · FoSTaC-certified · 17+ years pharma/nutraceutical.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FSSAI licensing, GMP/GHP, HACCP, labelling &amp; audit readiness for health supplements.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Today's promise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Practical, audit-ready knowledge you can apply on the plant floor from tomorrow.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How we'll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Interactive — quizzes, case studies, group exercises. Ask anything, anytime.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BEFORE WE BEGIN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Housekeeping &amp; Ground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Timings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Full-day session ~8 hours; breaks mid-morning, lunch, mid-afternoon.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Participation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Phones on silent; questions welcome; respect all viewpoints.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30-question assessment at the end; pass mark required for certification.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Handout + job aid provided; slides shared post-session.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TRAINING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Today's Agenda — 8-Hour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57175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57175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57175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235229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235229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Food safety + regulatory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926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6150" y="2743200"/>
            <a:ext cx="257175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86150" y="2743200"/>
            <a:ext cx="257175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6150" y="2788920"/>
            <a:ext cx="257175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5878" y="3291840"/>
            <a:ext cx="235229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GMP/GHP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5878" y="3703320"/>
            <a:ext cx="235229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Modules 1–7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500" y="2743200"/>
            <a:ext cx="257175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6500" y="2743200"/>
            <a:ext cx="257175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0" y="2788920"/>
            <a:ext cx="257175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291840"/>
            <a:ext cx="235229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HACCP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703320"/>
            <a:ext cx="235229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Module 8 workshop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996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6850" y="2743200"/>
            <a:ext cx="257175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6850" y="2743200"/>
            <a:ext cx="257175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6850" y="2788920"/>
            <a:ext cx="257175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6578" y="3291840"/>
            <a:ext cx="235229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Assess &amp; Certify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6578" y="3703320"/>
            <a:ext cx="235229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30-Q +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Section A → Modules 1–7 (GMP/GHP) → Module 8 (HACCP) → Final assessment &amp; certification. Breaks at 10:30, 12:30 (lunch) and 15:15.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BY THE END OF TODAY YOU WILL BE ABLE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Explain the FSSAI regulatory framework for health supplements &amp; nutraceuticals.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Implement GMP/GHP requirements of Schedule 4 Part II on the plant floor.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Identify biological, chemical and physical hazards and apply HACCP.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Recognise audit expectations, documentation and common non-conformities.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Act effectively as a Food Safety Supervisor in a nutraceutical facility.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BASELINE POLL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Pre-Training Pulse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Which regulation lays down GMP/GHP for health supplement manufacturing?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FSS (Packaging) Regulations, 2018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Schedule 4 Part II, FSS (L&amp;R) Regulations, 2011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FSS (Advertising &amp; Claims) Regulations, 2018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Legal Metrology Rules, 2011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THE 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Why Food Safety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For supplements, safety is trust — consumers ingest these daily, often long-term.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Human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Contaminated or adulterated products cause illness, injury and loss of consumer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Business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Recalls, licence suspension, prosecution, and irreversible brand damage.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Vulnerable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Elderly, pregnant, children and the chronically ill often rely on these products.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Your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The Food Safety Supervisor is the frontline defence against these risks.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WHY THIS MATTERS COMMERCIALLY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The Cost of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A single food-safety failure can erase years of brand equity.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₹Cr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Recall + destruction + legal costs of one contaminated batch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Loss of a distributor contract on a single major 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Licence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Suspension/cancellation under the FSS Act for serious breaches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3A6"/>
                </a:solidFill>
                <a:latin typeface="Aptos"/>
              </a:rPr>
              <a:t>Illustrative — costs vary. The point: prevention is far cheaper than 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WHO WE PROTECT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Consumer Trust &amp; the Supplement Buyer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Informed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Buyers rely on accurate labels, claims and quality to make health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Repeat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Supplements are consumed daily — small contaminants accumulate.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No prescription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Sold OTC/online — no pharmacist gatekeeping, so manufacturing control is critical.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Reputation economy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One viral safety story travels faster than any marketing.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INDUSTRY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Global Nutraceutical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Nutraceuticals are among the fastest-growing food categories worldwide.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Double-digit CAGR driven by preventive-health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One of the fastest-growing nutraceutical markets globally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Formats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Tablets, capsules, powders, liquids, gummies, effervescent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3A6"/>
                </a:solidFill>
                <a:latin typeface="Aptos"/>
              </a:rPr>
              <a:t>Rapid growth = rapid regulatory scrutiny. Compliance is a market-access requirement.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HOME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Indian Nutraceutical Industry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Rising health awareness, ageing population, lifestyle disorders, e-commerce.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From Ayurvedic botanicals to modern vitamins, proteins &amp; probiotics.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Export ambition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Global buyers demand documented GMP/HACCP compliance.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Regulatory maturing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FSSAI tightening standards, schedules, claims and approvals.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What Are Health Supplements &amp; Nutraceuticals?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Distinct regulatory categories under FSS (HSN…) Regulations — not medicines.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Health Supplement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Product to supplement the normal diet, in measured doses; nutrients/botanicals within permitted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Nutraceutical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Provides physiological/health benefit; declared actives with defined limits.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Not a medicine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Cannot claim to diagnose, treat, cure or prevent disease — 'Not for medicinal use'.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Dose 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Sold in unit doses: tablets, capsules, powders, liquids, gummies, etc.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REGULATORY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Product Categories Under FSSAI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The FSS (HSN, Nutraceuticals, FSDU, FSMP, Prebiotic &amp; Probiotic) Regulations define eight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Health Supplements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Nutrient/botanical supplements in measured doses.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Nutraceuticals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Isolated actives with physiological benefit.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FSDU / FSMP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Foods for Special Dietary Use / Special Medical Purpose.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Prebiotic / Probiotic &amp; Novel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Functional &amp; novel foods; specialty categories.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PRODUCT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Novel Formulations &amp; Dosage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Encapsulation &amp; formulation advances allow many delivery formats — each with its own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Solid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Tablets, capsules, softgels, effervescent — physical/metal hazards, moisture.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Powder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Sachets, protein blends — dust, homogeneity, moisture, allergen carry-over.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Liquid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Syrups, shots — microbial control, fill integrity.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Gummy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Pectin/gelatin gummies — microbial, dosing uniformity, temperature.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THE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India's Food-Safety Regulatory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57175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57175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57175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235229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FSS Act 2006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235229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Parent legislation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926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6150" y="2743200"/>
            <a:ext cx="257175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86150" y="2743200"/>
            <a:ext cx="257175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6150" y="2788920"/>
            <a:ext cx="257175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5878" y="3291840"/>
            <a:ext cx="235229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FSSAI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5878" y="3703320"/>
            <a:ext cx="235229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Regulator &amp;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500" y="2743200"/>
            <a:ext cx="257175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6500" y="2743200"/>
            <a:ext cx="257175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0" y="2788920"/>
            <a:ext cx="257175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3291840"/>
            <a:ext cx="235229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Regulations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703320"/>
            <a:ext cx="235229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Schedule 4, HSN, L&amp;D,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996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6850" y="2743200"/>
            <a:ext cx="257175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6850" y="2743200"/>
            <a:ext cx="257175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6850" y="2788920"/>
            <a:ext cx="257175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6578" y="3291840"/>
            <a:ext cx="235229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FBO / FSS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6578" y="3703320"/>
            <a:ext cx="235229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Implementation on ground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Act → Authority → Regulations/Schedules → Food Business Operator &amp; Food Safety Supervisor who implement them.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PARENT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Food Safety &amp; Standards Act, 2006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Consolidated India's food laws and created a single reference framework.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One law for safe, wholesome food; single regulator (FSSAI).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All food businesses — manufacture, storage, distribution, sale, import.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Powers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Licensing, standards, enforcement, recall, penalties.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Key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Shifts responsibility to the FBO to ensure safety proactively.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THE REGULATOR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FSSAI — Structure &amp;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Standard-setting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Frames regulations, standards, schedules and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Licensing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Central/State licensing via FoSCoS portal.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Inspections, sampling, risk-based audits, recall oversight.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Capacity-building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Training (FoSTaC), scientific panels, labs recognition.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SCHEDULE 4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Licensing &amp;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Licence tier depends on scale; nutraceutical manufacturers generally need a Central Licence.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Petty FBOs below turnover threshold (basic hygiene — Schedule 4 Part 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State Licence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Mid-size units within state thresholds.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Central Licence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Large/manufacturers of nutraceuticals — Schedule 4 Part II applies.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On FoSCoS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Apply, modify &amp; renew licences; keep KoB &amp; products current.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WHO IS ACCOUNTABLE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Food Business Operator — Responsibilities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Ensure food conforms to the Act &amp; regulations at all stages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Hold valid licence; comply with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Establish an FSMS; appoint trained Food Safety Supervisor(s)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Maintain records, traceability &amp; recall capability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Documented SOPs, internal audits, CAPA culture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FoSTaC-trained supervisor per required ratio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FSMS ownership; supervisor untrained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Records absent or back-filled before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WHY FOSTAC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Food Safety Supervisor — Your 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FBOs must have trained Food Safety Supervisor(s) — FoSTaC certified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Adequate ratio of supervisors to food handlers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WHAT YOU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Implement &amp; monitor GMP/GHP/HACCP daily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Train handlers; verify records; drive CAPA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COMPETENCE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Know the regulations, hazards &amp; controls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Able to face an FSSAI/customer audit confidently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PITFALL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Certificate on the wall but no floor implementation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Supervisor not empowered to stop the 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PRODUCT REGULATIONS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HSN &amp; Nutraceutical Regulations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FSS (Health Supplements, Nutraceuticals, FSDU, FSMP, Prebiotic &amp; Probiotic) Regulations, 2016 (amended 2022).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Categories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Defines the 8 product categories and their conditions of manufacture &amp; sale.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Permitted ingredients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Schedules list allowed vitamins, minerals, botanicals, additives with limits.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Purity &amp; RDA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Purity criteria per IP/pharmacopoeia; RDA per ICMR-NIN 2020.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Labelling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Category-specific declarations feed into the label (L&amp;D 2020).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WHAT'S ALLOWED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Permitted Ingredients &amp;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Only ingredients in the Schedules, within specified limits, may be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Vitamins &amp; minerals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Listed forms &amp; upper limits (RDA-referenced).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Botanicals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Schedule of permitted plants/parts; note advisories (e.g., Ashwagandha).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Additives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Only permitted additives at permitted levels (INS numbers).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Outside schedule?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Needs Non-Specified Food/Ingredient approval before use.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NOVEL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Product Approval &amp; Non-Specified 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FSS (Approval of Non-Specified Food &amp; Food Ingredients) Regulations, 2017.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When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Foods/ingredients not covered by any standard or schedule — novel actives, new botanicals.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Apply on FoSCoS with a safety dossier before manufacture/import.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Product-approval letter must be obtained before licensing the product.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Using an unapproved novel ingredient = misbranded/unsafe food.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FSS (LABELLING &amp; DISPLAY)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Labelling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Every pack must carry mandatory declarations — the label is a legal document.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Principal Display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Category name, name of food, veg/non-veg symbol (Reg 5(4)), net qty (5(8)).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Information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Ingredients (5(2)), additives/allergens (5(5)/5(14)), nutrition (5(3)+Sch II).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Identity &amp;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Mfr name/address &amp; FSSAI logo+licence (5(6)/5(7)); batch (5(9)); date/BBD (5(10)).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Advisories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'Not for medicinal use'; recommended dose; 'keep out of reach of children'.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FSS (ADVERTISING &amp; CLAIMS)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Claims &amp; Advertising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Claims must be truthful, pre-approved where required, and never medicinal.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Allowed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Substantiated nutrient/health claims within regulation; RDA-based.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Prohibited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Disease prevention/cure/treatment claims; misleading comparisons.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'100%' banned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FSSAI discontinued the term '100%' on food labels &amp; ads.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Misleading claims → notices, penalties, product withdrawal.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STAY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Recent Regulatory Updates (2018–2026)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Ayurveda Aahara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New category &amp; Kind of Business on FoSCoS (2025 orders).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78308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4767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Turnover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44144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Revised thresholds for Registration vs State vs Central Licence.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'100%' &amp;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Discontinuation of '100%'; tighter claims enforcement.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93192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93192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09651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Labelling &amp; Display 2020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9028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Replaced Packaging &amp; Labelling 2011 (mandatory since 1 Jul 2022).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REGULATORY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Case Study — The Misbranded Supplement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789920" cy="1234440"/>
          </a:xfrm>
          <a:prstGeom prst="roundRect">
            <a:avLst/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91440" cy="12344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B2F38"/>
                </a:solidFill>
                <a:latin typeface="Aptos"/>
              </a:rPr>
              <a:t>A protein powder is marketed as '100% pure, cures fatigue and boosts immunity', with no veg/non-veg symbol and an unlisted botanical active. An FSSAI drive picks it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0400"/>
            <a:ext cx="5394960" cy="301752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5394960" cy="502920"/>
          </a:xfrm>
          <a:prstGeom prst="round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394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WHAT WENT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4048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Medicinal claim ('cures fatigue') — prohibited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'100%' term — discontinued by FSSAI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Missing veg/non-veg symbol — L&amp;D 2020 breach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Unlisted botanical — no Non-Specified Food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00400"/>
            <a:ext cx="5166360" cy="301752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166360" cy="50292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5166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CORRECTIVE / PREVENTIVE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Remove medicinal &amp; '100%' claims; re-approve artwork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Add veg/non-veg symbol &amp; full mandatory declarations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Obtain product approval or reformulate to scheduled actives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Train marketing &amp; QA on claims; label-control SOP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WHEN IT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Penalties &amp; Legal Consequences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The FSS Act prescribes graded penalties — from fines to imprisonment.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Substandard/misbranded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Monetary penalties per the Act's schedule of offences.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Unsafe food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Higher penalties; prosecution; imprisonment for injury/death.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Licence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Improvement notices, suspension or cancellation of licence.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Reputational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Public recalls &amp; media — often costlier than the fine.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Section A —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Which statement about a nutraceutical label is CORRECT?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It may claim to cure a disease if substantiated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It must carry 'Not for medicinal use' and a veg/non-veg symbol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'100%' is encouraged to signal purity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Batch number is optional for small packs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Section A — 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828800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Supplements are food, not medicine — no disease claims, 'Not for medicinal use'.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670048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670048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FSS Act 2006 + FSSAI + Schedule 4 Part II govern nutraceutical manufacture.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11296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11296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511296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Nutraceutical manufacturers need a Central Licence; the FBO is legally accountable.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52544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352544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352544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You — the Food Safety Supervisor — implement GMP/GHP/HACCP daily.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93792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93792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193792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5193792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Labels, claims &amp; ingredients must all sit within the Schedules and L&amp;D 2020.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SECTION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MODULE 1 · GMP / GHP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Location, Layout &amp; Facilities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Schedule 4 Part II · FSMS Guidance §1 — the physical foundation of food safety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1 — 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Select and assess a compliant site &amp; surroundings.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Design layout, zoning and material/personnel flow to prevent cross-contamination.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Specify internal structures, equipment and utilities to GMP standards.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Meet environmental targets: air class, temperature, RH, pressure and lighting.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Audit a facility against Schedule 4 Part II.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Location &amp; Surroundings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Away from polluted/waste-emitting, flood-prone or pest-prone areas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Demarcated boundary with access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Site survey; no stagnant water; trimmed vegetation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Barriers, gates, controlled entry &amp; clean surroundings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Documented site risk assessment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Regular surrounding-area cleaning &amp; pest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Open drains/garbage adjacent to plant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Uncontrolled site access; overgrown surroundings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SPOT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Site Selection — Good vs 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94960" cy="44805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94960" cy="54864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394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✔  GOOD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Clean, paved, well-drained surroundings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Boundary wall &amp; controlled gate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Away from residential/industrial pollution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No stagnant water; vegetation trimmed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44805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66360" cy="548640"/>
          </a:xfrm>
          <a:prstGeom prst="round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166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✘  BAD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Adjacent open drain or dump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Direct access to residential area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Flood-prone low-lying plot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Bushes/undergrowth harbouring pests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Layout &amp; Building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Design for logical, one-directional flow with physical separation of clean &amp; unclean.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Logical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Materials, product and people move forward — no back-tracking or crossing.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Segregation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Physically separate raw, process, packing, storage &amp; QC areas.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Adequate space for operation, cleaning &amp; maintenance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Surfaces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Durable, cleanable, impervious; coved wall–floor joints.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CLEANLINESS 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Zoning &amp; Classified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Classify areas by cleanliness and step-down between them to protect the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Unclassified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Receiving, warehousing, utilities.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Controlled (ISO 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Product-contact, dispensing, processing, storage of equipment.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ISO 8 + RLAF ISO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Material sampling &amp; dispensing — reverse laminar airflow booth.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Gradation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Pressure &amp; cleanliness step down from clean to less-clean.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PREVENTING CROSS-CONTAMINATION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Material &amp; Personnel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Receive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RM in via dock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Store/QC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Quarantine →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Dispense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Weigh in booth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Manufacture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Pack &amp; FG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Pack → warehouse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People enter via change rooms/air-locks; material and personnel flows must not cross unclean↔clean.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Internal Structures — Walls, Floors, Ceilings, Drains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Impervious, cleanable, crack-free surfaces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Coved joints; sealed ceilings; covered drains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Epoxy/PU floors sloped to drains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SS guards; flaking-paint-free walls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Unidirectional drains away from process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Overhead fixtures protected against breakage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Cracked floors harbouring microbes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Open/back-flowing drains; flaking paint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OPENINGS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Doors, Windows &amp; Pest-Proofing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Every opening is a potential entry for pests and contamination.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Doors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Smooth, self-closing; air curtains/PVC strips; door-floor gaps sealed.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Windows/vents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Insect-proof mesh; non-opening where possible.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Exhaust/roof 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Screened; one-way flaps.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Sealed envelope — pests designed out, air controlled.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Equipment Design &amp; Installation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Food-grade, corrosion-free, cleanable materials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Labelled, identified; installed for cleaning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Placed off wall/above floor; free of cracks/crevices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Covered against fumes/dust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Preventive maintenance &amp; calibration schedules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Defective equipment removed or status-tagged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Rusty/pitted contact surfaces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Equipment flush to wall — uncleanable gaps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DESIGN FOR CLEANABILITY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Hygienic Equipment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Cleanable-by-design equipment prevents residue &amp; microbial build-up.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Smooth &amp; bonded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Well-bonded, smooth internal surfaces — no dead-legs.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Sloped &amp; drainable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Sloped pipes, conical bases, domed tops.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CIP where possible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Clean-In-Place; sanitary quick-connect fittings.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Rinse-water &amp; swab tests confirm cleaning.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Water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Adequate potable water; ingredient-grade for steam/ice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Semi-annual analysis against IS 10500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Non-toxic, corrosion-resistant tanks &amp; pipes; covered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Colour-coded potable vs non-potable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Documented tank cleaning; filter monitoring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reflux of non-potable into potable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water testing records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Uncovered tanks; cross-connected 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Air Quality &amp; Environmental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Controlled air, temperature &amp; humidity protect product &amp; prevent microbial growth.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Air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ISO 8 for contact/dispensing/storage; ISO 8 + RLAF ISO 5 for sampling &amp; dispensing.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Controlled areas ≤ 25 °C.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Humidity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RH 60% ± 5% (or per product requirement).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Micro Lab: ISO 8 + LAF ISO 5, dedicated AHU; Analytical: ≤25 °C, RH 60±5%.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HVAC &amp; Differential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Ventilation must drive air from clean to less-clean and hold pressure cascades.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Air flow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Clean → less-clean, never reverse.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Differential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Min 0.5 mm water column between adjacent classified areas.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Filtration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Filters accessible for change; regular integrity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Washing area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Negative pressure w.r.t. processing area.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§1.4.5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Lighting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Adequate, shatter-proof lighting supports inspection, hygiene &amp;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540 lux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Processing / inspection areas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220 lux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Storage areas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468880"/>
            <a:ext cx="3474720" cy="201168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788920"/>
            <a:ext cx="34747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E8A020"/>
                </a:solidFill>
                <a:latin typeface="Montserrat"/>
              </a:rPr>
              <a:t>110 lux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03320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B2F38"/>
                </a:solidFill>
                <a:latin typeface="Aptos"/>
              </a:rPr>
              <a:t>General / corridors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3A6"/>
                </a:solidFill>
                <a:latin typeface="Aptos"/>
              </a:rPr>
              <a:t>All fittings shatter-proof/covered to prevent glass contamination on breakage.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§1.4.6–1.4.9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Personnel Facilities &amp; Amenities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Facilities that keep people hygienic protect the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Hand hygiene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Adequate wash/dry/sanitise stations at entries; hands-free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Toilets &amp; change rooms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Not opening directly into process; separate change facilities.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Rest/refreshment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Away from process; controls belongings &amp; eating.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Backup power, compressed air (oil-free/filtered), gases controlled.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AUDIT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1 — Facility Audit 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44805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299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993392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Site away from contamination; boundary &amp; access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596896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560320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Logical one-way material &amp; personnel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16382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27248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127248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Impervious, crack-free floors/walls; coved joints; covered drains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3075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94176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694176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Food-grade, cleanable, well-installed equipment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297679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61104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261104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Potable water; IS 10500 semi-annual records; colour-coded 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20299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1993392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1993392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Air class ISO 8 (+RLAF ISO 5 sampling/dispensing); ≤25°C; RH 60±5%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2596896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2560320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2560320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Differential pressure ≥0.5 mm WC; clean→less-clean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59" y="316382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79" y="3127248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3127248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Lighting 540/220/110 lux; shatter-proof covers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59" y="373075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9" y="3694176"/>
            <a:ext cx="274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9E6B"/>
                </a:solidFill>
                <a:latin typeface="Aptos"/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7" y="3694176"/>
            <a:ext cx="4480559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Hand-hygiene, toilets, change rooms compliant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1 —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What is the minimum recommended differential pressure between adjacent classified areas?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0.5 mm of Water Column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5 mm of Water Column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0.5 psi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2 Pascal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MODULE 2 · GMP / GHP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Material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Receiving, storage &amp; traceability — controlling what enters your process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2 —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Qualify and approve suppliers of raw &amp; packaging materials.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Control receipt, inspection and quarantine of incoming materials.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Authenticate and test botanicals for identity and contaminants.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Apply correct storage, FEFO/FIFO and traceability.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Handle rejected material and recalls.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§2.1.1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Supplier Qualification &amp; Vendor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Only approved, capable suppliers may feed your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Selection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FSSAI licence/GMP status, capability, quality history, food-grade certificates.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Approval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Questionnaire, documentation review, sample testing, optional audit.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Approved Vendor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Maintained, dated, reviewed; only AVL suppliers used.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Ongoing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Periodic performance review; complaints &amp; rejection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§2.1.1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Procurement &amp; Purchase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Buy only what is specified, from whom is approved.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Purchase against approved RM/PM specifications &amp; CoA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Only approved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Procure from AVL; no unapproved substitutions.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PO, CoA, food-grade &amp; allergen declarations required at receipt.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Botanicals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Origin, part-used and season captured where relevant.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§2.1.1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Raw-Material Receipt &amp; Incoming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Inspect every consignment against spec before acceptance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Vehicle suitability &amp; packaging integrity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Verify CoA, labels, seals, temperature; dedust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Sample &amp; test to plan; log receipt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Reject &amp; segregate non-conforming lots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Traceability records from source captured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Accepting without CoA/testing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vehicle/temperature check on receipt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§2.1.2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Botanical Raw Materials — Origin &amp;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Botanicals carry agronomic &amp; contamination risk — trace them to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Source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Verify geographic origin, cultivation/collection &amp; supplier.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GACP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Good Agricultural &amp; Collection Practices at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Origin, part used, harvest season, treatment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One-up/one-down to farm/collector where feasible.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§2.1.3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Botanical Identification &amp; Characterization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Confirm the plant is what it claims — adulteration is common.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Macroscopic/microscopic, organoleptic, TLC/HPTLC fingerprint.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Marker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Quantify marker compounds (e.g., withanolides, curcuminoids).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Advisories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Heed FSSAI advisories (e.g., Ashwagandha) &amp; permitted-plant schedule.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Retain identity data per batch.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Sampling Procedures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Represent the lot correctly — sampling errors invalidate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Documented sampling equipment, method, frequency &amp; quantity.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Booth &amp; hygiene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Sample in a sampling booth (RLAF ISO 5); gowned, gloved.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Homogeneity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Precautions to keep mixed powders representative.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Labelling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Container labelled: content, sample ID, lot no., date.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STATUS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Quarantine, Release &amp; Rejected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Clear status: Quarantine / Approved / Rejected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material used before QC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Physical/system segregation by status; labels &amp; locations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QA release before dispensing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Rejected material segregated, controlled &amp; dispositioned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Deviation &amp; disposition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Mixed status in one area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Rejected stock re-entering process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Storage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Store to preserve identity, potency &amp;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RM/PM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Off floor, away from walls; environment per supplier/spec.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Temperature/RH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Monitored; recorded; biologically sensitive items controlled.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Per established stability studies.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Segregation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Allergens, chemicals &amp; rejects stored separately.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Stock Rotation — FEFO / FIFO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Receive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Date &amp; label 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Locate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By expiry/receipt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Pick FEFO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First-Expiry-First-Out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Check BBD before issue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Update stock ledger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FEFO (First-Expiry-First-Out) preferred for dated stock; FIFO where dating equal. Prevents expired-stock use.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§7.3.9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Contaminant &amp; Residue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Test unprocessed botanicals &amp; inputs for chemical &amp; microbial contamination.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Heavy metals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Lead, cadmium, mercury, arsenic within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Mycotoxins &amp; residues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Aflatoxins, ochratoxin; pesticide residues.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Microbiological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TPC, E. coli, Salmonella, Enterobacteria, yeast/mould.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Per 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Results retained for each batch; accredited lab.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§7.10.1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Traceability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Know one step back and one step forward for every 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One-up/one-down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Link finished lots ↔ RM batches ↔ suppliers &amp; customers.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Lot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Unique batch/lot codes across RM, WIP, FG.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Receipt, process, distribution records connected.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Mock 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Periodic trace test proves the system works.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GROUP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Activity — Build a Receiving-Inspection 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7680960" cy="44348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44348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7223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7223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In groups, list every check you'd perform when a botanical consignment arrives.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Include documents, physical checks, sampling &amp; sign-offs.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Map each check to a hazard it controls.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Nominate one presenter.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72237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Deliverable: </a:t>
            </a:r>
            <a:r>
              <a:rPr sz="1300" b="0">
                <a:solidFill>
                  <a:srgbClr val="2B2F38"/>
                </a:solidFill>
                <a:latin typeface="Aptos"/>
              </a:rPr>
              <a:t>A 10-point receiving checklist mapped to hazards.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783080"/>
            <a:ext cx="2834640" cy="4434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37744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020"/>
                </a:solidFill>
                <a:latin typeface="Aptos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17520"/>
            <a:ext cx="2834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840480"/>
            <a:ext cx="25603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2F0"/>
                </a:solidFill>
                <a:latin typeface="Aptos"/>
              </a:rPr>
              <a:t>Groups of 4–5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Case Study — The Adulterated Botanical 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789920" cy="1234440"/>
          </a:xfrm>
          <a:prstGeom prst="roundRect">
            <a:avLst/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91440" cy="12344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B2F38"/>
                </a:solidFill>
                <a:latin typeface="Aptos"/>
              </a:rPr>
              <a:t>A turmeric extract lot passes visually but a customer complaint reveals a synthetic colour and elevated lead. The lot was released without full testing to meet a dispatch deadline.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0400"/>
            <a:ext cx="5394960" cy="301752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5394960" cy="502920"/>
          </a:xfrm>
          <a:prstGeom prst="round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394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WHAT WENT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4048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Released without heavy-metal &amp; identity testing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No CoA verification against spec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Supplier not on a current AVL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Deadline pressure overrode QC release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00400"/>
            <a:ext cx="5166360" cy="301752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166360" cy="50292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5166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CORRECTIVE / PREVENTIVE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Recall lot; quarantine same-supplier stock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Reinstate mandatory ID + heavy-metal testing before release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Re-audit &amp; re-approve or delist supplier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Empower QC to hold release regardless of deadline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2 —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Which stock-rotation principle best prevents issuing near-expiry material?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LIFO — Last-In-First-Out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FIFO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FEFO — First-Expiry-First-Out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Random picking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MODULE 3 · GMP / GHP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Pre-Production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Dispensing, line clearance &amp; preparation — getting the batch right before it starts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3 —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Control dispensing &amp; weighing accuracy and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Perform effective line clearance and cleaning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Apply sifting, mixing, blending &amp; granulation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Maintain batch documentation (BMR/MFR).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Understand process validation &amp; change control.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Dispensing &amp; Weighing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Accurate weighing on calibrated balances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Dispense in controlled booth (RLAF ISO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Independent double-check of weights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Double poly-liners; food-grade; label each dispensed item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Recheck against BMR; reconcile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Spilled material discarded per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Uncalibrated balance; single check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Cross-contamination from shared scoops/booth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PREVENTING MIX-UPS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Line Clearance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Verify the line is clear of the previous product before starting a new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Before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previous product, labels, or documents remain.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Checklist &amp; 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Two-person verification; documented.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After changeover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Re-clear on product/format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Prevents mix-ups, cross-contamination &amp; mislabelling.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PROOF OF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Cleaning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'Clean' must be verified, not assumed.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visible residue on surfaces/equipment.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Rinse-water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Analyse final rinse for residues.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Swab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Surface swabs for chemical/micro residues.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Cleaning + verification logged; validated procedure.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FOREIGN-MATTER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Sifting &amp; Sieving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Sieving removes foreign matter; integrity is a control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Defined mesh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Sieve to specified mesh per BMR (e.g., #80 / 20-mesh).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Integrity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Inspect sieve before &amp; after; log condition.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Magnetic grill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Magnet on sifter captures ferrous metal.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Lead-free &amp;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Screens free from lead; cleaned &amp; verified.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PROCESS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Mixing, Blending &amp; Granulation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Uniformity &amp; controlled parameters ensure dose consistency.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Time, speed, temperature, ampere load per BMR.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Homogeneity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Blend uniformity — critical for potency &amp; dose.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Granulation/drying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Controlled moisture (RMG/FBD) where used.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Positive pressure, controlled temp &amp; RH; food-grade liners.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Botanical Extract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Extraction concentrates actives — and any contaminants.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Solvent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Approved solvents; residual-solvent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Standardization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Adjust to defined marker content.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Concentration &amp; drying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Controlled to preserve actives.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Markers, contaminants &amp; residues verified.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Batch Documentation — BMR / MFR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If it isn't documented, it didn't happen.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Master Formula Record — the approved recipe &amp; method.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Batch Manufacturing Record — the executed batch.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BOM, process steps, in-process checks, sign-offs, deviations.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Issued, reconciled, reviewed &amp; QA-approved.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§7.3.5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Process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Prove the process reliably makes conforming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Prerequisites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Qualified people, premises, utilities &amp;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Three batches typically acceptable; number risk-justified.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Define critical parameters &amp; acceptance criteria.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Summarise results &amp; conclusions; revalidate on change.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MANAGING CHANGE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Every change to product, process or equipment must be assessed &amp; approved.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Raise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Document proposed change &amp; reason.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Impact on safety, quality, validation &amp;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QA authorises; define actions (e.g., revalidation).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Implement &amp;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Controlled roll-out; records updated.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SPOT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Dispensing — Good vs 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94960" cy="44805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94960" cy="54864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394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✔  GOOD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Calibrated balance; independent double-check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Dispensed in RLAF ISO 5 booth, gowned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Each item labelled &amp; reconciled to BMR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Dedicated scoops; booth cleaned between 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44805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66360" cy="548640"/>
          </a:xfrm>
          <a:prstGeom prst="round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166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✘  BAD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Uncalibrated balance; single operator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Open-room dispensing; no gowning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Unlabelled containers; no reconciliation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Shared scoops — allergen/cross-contamination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3 —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How is cleaning most reliably verified after a changeover?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Assume clean if it looks clean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Visual check plus rinse-water and/or swab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Only the operator's opinion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No verification needed for the same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MODULE 4 · GMP / GHP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Production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Tablets · Capsules · Powders · Liquids · Sachets · Gummies — controls by dosage form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4 —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Apply general production controls &amp; in-process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Understand equipment qualification and cleaning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Manage allergens across shared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Describe manufacturing flow, CCPs &amp; failures for each dosage 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Control rework and non-conforming product.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ACROSS ALL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General Production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In-process control keeps the batch inside specification,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In-process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Weight, thickness, hardness, DT, friability, fill, seal — per BMR.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Positive pressure, ≤25°C, controlled RH, food-grade contact.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Yield &amp; material reconciliation at each stage.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Contemporaneous BMR entries with sign-offs.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DQ / IQ / OQ / PQ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Equipment Qualification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Prove equipment is fit before it makes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Design Qualification — right specification for purpose.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Installation Qualification — installed correctly.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Operational Qualification — operates across ranges.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Performance Qualification — performs in real production.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PREVENTING CARRY-OVER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Cleaning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Prove cleaning removes residues to safe limits — vital on shared equipment.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Worst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Validate hardest-to-clean product &amp;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Acceptance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Residue, allergen &amp; micro limits defined.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Swab &amp; rinse recovery; validated analytical method.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On new product, formula or equipment change.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Allergen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Control the 8 major allergens across shared facilities.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The 8 allergens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Gluten cereals, crustacean, eggs, fish, soy, milk, peanut/tree-nuts, sulphite ≥10 mg/kg.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Segregation &amp;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Non-allergen runs first; dedicated scoops/utensils; identified storage.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Cleaning &amp;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Validated allergen clean; allergen testing after runs.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Labelling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Declare allergens per L&amp;D 2020 (Reg 5(14)).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DOSAGE FORM: TABLETS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Tablets — Manufacturing Process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Dispense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Weigh actives/excipients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Sift &amp; granulate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RMG / FBD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Blend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Add lubricants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Compress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Tablet press + metal detector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Coat &amp;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Coat → strip/blister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Critical points: sieve integrity, metal detection, blend uniformity, compression weight/hardness.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DOSAGE FORM: TABLETS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Tablets — Controls, CCPs &amp; Failures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IN-PROCESS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Weight, thickness, hardness, DT, friability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Blend uniformity; coating weight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CRITICAL CONTROL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Sieve integrity (final sieving)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Metal detection of tablets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Metal detector challenged each shift with test pieces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Reconciliation &amp; reject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Weight/hardness variation; capping/lamination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Metal fragments from worn punches/sieves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DOSAGE FORM: CAPSULES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Capsules — Process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Prepare fill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Powder / pellet / liquid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Empty shells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Gelatin / HPMC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Fill &amp; 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Encapsulator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Polish &amp; sort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Remove defects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Inspect &amp;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Weight sort →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Watch fill-weight uniformity, shell integrity, cross-locking and moisture (hygroscopic fills).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DOSAGE FORM: CAPSULES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Capsules — Controls &amp; Defects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Uniform fill and intact shells define capsule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Fill 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Uniformity checks; reject under/over-fill.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Shell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dents, cracks, cross-locking.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Moisture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Control RH for hygroscopic fills &amp; shells.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Veg/Non-veg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HPMC (veg) vs gelatin (often non-veg) — label symbol accordingly.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DOSAGE FORM: POWDERS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Powders — Process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Dispense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Weigh blend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Sift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Foreign-matter removal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Blend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Uniform mix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Jars / sachets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Seal &amp;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Seal integrity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Key risks: dust/cross-contamination, blend homogeneity, moisture pickup, allergen carry-over.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DOSAGE FORM: POWDERS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Powders — Critical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Dust, uniformity and moisture are the powder trilogy.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Dust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Extraction/containment; prevents cross-contamination &amp; allergen spread.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Homogeneity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Blend uniformity for potency &amp; dose.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Moisture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Controlled RH; sealed liners; prevents caking/micro growth.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Fill &amp; seal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Fill weight &amp; seal integrity verified.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DOSAGE FORM: LIQUIDS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Liquid Supplements — Process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Prepare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Purified/treated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Compound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Dissolve/disperse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Clarify / bioburden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Bottles / shots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Cap, UV &amp;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Seal → UV tunnel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Microbial control is paramount — water quality, bioburden, fill integrity, preservative efficacy.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DOSAGE FORM: LIQUIDS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Liquids — Microbial &amp; Fill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Water and microbes define liquid safety.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Water &amp; bioburden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Purified water; controlled bioburden; sanitised 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Preservative efficacy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Validated preservative system where used.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Fill 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Fill volume, cap/seal, leak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Container hygiene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UV tunnel / sanitised containers (OPRP).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SPECIAL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Sachets, Gummies &amp; Effervescent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Newer formats bring specific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Sachets / stick-packs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Seal integrity (leak/dye test); fill weight; foil coding.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Gummies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Micro control, gelatin/pectin handling, dosing uniformity, temperature.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Effervescent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Very low RH to prevent premature reaction; moisture-proof pack.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Softgels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Shell integrity, fill accuracy, drying, veg/non-veg source.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CONTROL OF NCP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Rework &amp; Non-Conforming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Non-conforming product must be controlled, not quietly reused.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Identify &amp; segregate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Mark &amp; isolate NCP; prevent inadvertent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QA decides: rework, reject, or use-as-is with justification.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Rework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Documented, validated, within limits (e.g., % add-back).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Deviation, disposition &amp; rework records retained.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SHELF-LIFE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Stability by Dosage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Stability data justifies shelf life &amp; storage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Monitor product across claimed shelf life in market pack.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Form-specific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Effervescent/gummies moisture-sensitive; liquids micro/preservative.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Physical, chemical, micro; per ICH/WHO/USP conditions.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One batch/strength/pack per year; review &amp; report.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Case Study — Metal in Tablets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789920" cy="1234440"/>
          </a:xfrm>
          <a:prstGeom prst="roundRect">
            <a:avLst/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91440" cy="12344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B2F38"/>
                </a:solidFill>
                <a:latin typeface="Aptos"/>
              </a:rPr>
              <a:t>Consumers report metal fragments in a batch of calcium tablets. Investigation finds a torn sieve mesh and a metal detector that had not been challenged for two shifts.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0400"/>
            <a:ext cx="5394960" cy="301752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5394960" cy="502920"/>
          </a:xfrm>
          <a:prstGeom prst="round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394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WHAT WENT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4048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Damaged sieve not detected — no integrity check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Metal detector not challenged with test pieces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No reconciliation flag on rejected pieces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Root cause not investigated after first complaint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00400"/>
            <a:ext cx="5166360" cy="301752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166360" cy="50292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5166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CORRECTIVE / PREVENTIVE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Recall batch; segregate suspect lots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Reinstate sieve integrity check pre/post &amp; metal-detector challenge each shift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Preventive sieve replacement schedule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RCA + CAPA; train operators; verify effectiveness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SPOT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In-Process Control — Good vs 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94960" cy="44805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94960" cy="54864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394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✔  GOOD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IPC at defined frequency, recorded live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Calibrated instruments; challenged detectors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Deviations flagged &amp; investigated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Reconciliation at each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44805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66360" cy="548640"/>
          </a:xfrm>
          <a:prstGeom prst="round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166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✘  BAD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IPC skipped 'to save time'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Uncalibrated gauges; unproven detectors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Deviations back-filled at batch close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No yield reconciliation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GROUP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Activity — Map the CCPs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7680960" cy="44348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44348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7223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7223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Each group gets a product line (tablet / powder / liquid / gummy).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Draw the process flow.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Identify likely hazards at each step.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Mark candidate CCPs and one critical limit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72237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Deliverable: </a:t>
            </a:r>
            <a:r>
              <a:rPr sz="1300" b="0">
                <a:solidFill>
                  <a:srgbClr val="2B2F38"/>
                </a:solidFill>
                <a:latin typeface="Aptos"/>
              </a:rPr>
              <a:t>A flow diagram with 2–3 candidate CCPs and critical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783080"/>
            <a:ext cx="2834640" cy="4434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37744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020"/>
                </a:solidFill>
                <a:latin typeface="Aptos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17520"/>
            <a:ext cx="2834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840480"/>
            <a:ext cx="25603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2F0"/>
                </a:solidFill>
                <a:latin typeface="Aptos"/>
              </a:rPr>
              <a:t>Groups by dosage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4 —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On a tablet line, which pair are the most typical Critical Control Points?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Coating colour and packing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Sieve integrity and metal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Label design and carton coding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Room temperature and lighting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MODULE 5 · GMP / GHP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Packaging, Storage &amp;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Protecting the product from line to consumer — and getting it back if needed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5 —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Control primary &amp; secondary packaging and materials.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Verify and reconcile labels &amp; coding.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Warehouse finished goods under correct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Control transportation &amp; distribution.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Operate an effective recall system.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PRIMARY &amp; SECONDARY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Packaging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Food-grade, compliant packaging (FSS Packaging 2018)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Protects product; migration-safe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Approved PM specs &amp; CoA; incoming checks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Line clearance before packing; reconciliation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Seal-integrity checks (leak/dye)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Tamper-evidence where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Non-food-grade or unverified packaging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seal-integrity or reconciliation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GETTING THE LABEL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Label Verification &amp;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The label is a legal document — control it like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Correct artwork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Approved, current artwork; version-controlled.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On-line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Batch, MFG/EXP, MRP, veg/non-veg symbol, FSSAI logo+licence.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Issued vs used vs destroyed labels reconciled.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Overprint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Coding legibility &amp; correctness checked.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TRACEABLE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Coding, Serialization &amp; Batch 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Every pack must be traceable to its batch.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Batch/lot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Unique, legible, on primary &amp; secondary pack.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Date marking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MFG &amp; BBD/EXP per L&amp;D 2020 Reg 5(10).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Serialization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Where used, unit-level codes for track-and-trace.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Shipper marking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Outer cartons marked for distribution traceability.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STORAGE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Warehousing of Finished Goods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Store FG per stability data; protect, segregate &amp; rotate.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Temperature/RH per established stability studies; monitored.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Segregation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Approved / hold / rejected; allergens separated.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FEFO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Dispatch earliest-expiry first; no expired stock.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Pest &amp; housekeeping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Off-floor, off-wall; pest-controlled; clean.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TO THE CONSUMER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Transportation &amp;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Maintain conditions and hygiene through the supply 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Vehicle suitability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Clean, dry, pest-free; verified before loading.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Temperature-controlled where product requires.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Prevent damage, crushing, moisture ingress.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Dispatch, distribution &amp; delivery records for traceability.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PROVE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Traceability &amp; Mock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A recall you've never tested is a recall you can't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One-up/one-down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Trace FG ↔ RM ↔ supplier &amp; customer.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Mock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Test annually; measure time &amp; % recovered.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 adequacy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Manufacturing &amp; distribution records support trace.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Gaps → CAPA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Fix any trace gaps found in the mock.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FSS (FOOD RECALL PROCEDURE) 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Product Recall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Documented recall plan per FSS (Food Recall) Regulations, 2017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Ability to locate &amp; remove implicated lots fast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Recall team, contacts, decision criteria &amp; comms plan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Notify FSSAI, distributors, retailers, consumers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Supervise recovered stock to destruction/rework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Annual mock recall; effectiveness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Plan on paper only; never tested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traceability to execute the 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Case Study — Executing a 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789920" cy="1234440"/>
          </a:xfrm>
          <a:prstGeom prst="roundRect">
            <a:avLst/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91440" cy="12344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332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2B2F38"/>
                </a:solidFill>
                <a:latin typeface="Aptos"/>
              </a:rPr>
              <a:t>A liquid tonic batch shows microbial spoilage post-market. The recall plan exists but distribution records are incomplete and the mock recall was never done.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0400"/>
            <a:ext cx="5394960" cy="301752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5394960" cy="502920"/>
          </a:xfrm>
          <a:prstGeom prst="round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394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WHAT WENT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4048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Incomplete distribution records — can't locate all stock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No prior mock recall — team unpractised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Slow FSSAI notification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0433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No control of recovered stock disposition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00400"/>
            <a:ext cx="5166360" cy="301752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166360" cy="50292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5166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CORRECTIVE / PREVENTIVE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Rebuild distribution traceability; complete records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Run mock recalls; train recall team; set time targets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Define notification SOP &amp; timelines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E9E6B"/>
                </a:solidFill>
                <a:latin typeface="Aptos"/>
              </a:rPr>
              <a:t>•  </a:t>
            </a:r>
            <a:r>
              <a:rPr sz="1250">
                <a:solidFill>
                  <a:srgbClr val="2B2F38"/>
                </a:solidFill>
                <a:latin typeface="Aptos"/>
              </a:rPr>
              <a:t>Controlled quarantine &amp; documented destruction of recovered stock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5 —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Under which regulation must a nutraceutical FBO maintain a documented recall plan?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FSS (Advertising &amp; Claims) Regulations, 2018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FSS (Food Recall Procedure) Regulations, 2017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Legal Metrology Rules, 2011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FSS (Packaging) Regulations,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MODULE 6 · GMP / GHP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Personal Hygiene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People are the biggest source of contamination — and the strongest control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6 —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Apply health-status and medical-examination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Use protective clothing correctly by zone.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Perform effective hand hygiene.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Control visitors and contractors.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Recognise and correct common hygiene violations.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Health Status &amp; Medical Examination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Pre-employment + annual medical by registered practitioner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Free from infectious/communicable disease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Vaccination per schedule; records maintained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Additional exam if clinically indicated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'Fit to join' after illness before returning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Self-medication controlled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annual medical records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Ill handler on the line — no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WHEN TO STAY OFF THE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Reportable Conditions &amp; Injury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Handlers must report conditions that could contaminate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Report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Jaundice, diarrhoea, vomiting, fever, sore throat with fever.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Skin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Visibly infected lesions — boils, cuts, sores.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Discharges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From ear, eye or nose.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Reassign or exclude until fit; cover wounds appropriately.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BARRIER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Protective Clothing (PPE) by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PPE protects product from the person; use the right level per zone.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Clean uniform, hair net, beard cover, closed footwear.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Controlled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Gowns, gloves, masks; no personal clothing exposed.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jewellery, watches, false nails, loose items.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Laundry &amp;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Daily change; laundered; gowning sequence followed.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THE SINGLE MOST IMPORTANT HABIT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Hand Hygiene — Step by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Wet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Warm potable water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Soap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Cover all surfaces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Scrub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20+ sec, nails &amp; between fingers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Rinse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Thoroughly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Dry &amp; sanitise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Single-use dry + sanitiser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Wash on entry, after breaks/toilet, after handling waste, and between tasks. Sanitiser is not a substitute for washing.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BEHAVIOUR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GMP Behaviour &amp; Visitor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Behaviour and access control keep the clean areas clean.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eating/spitting/gum; hands away from face; no touching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Personal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phones/food/belongings in process areas.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Visitors &amp; contractors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Gowned, inducted, escorted, logged.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Lead by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Supervisors set the hygiene standard on the floor.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SPOT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Common Hygiene Violations — Spot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94960" cy="44805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94960" cy="54864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394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✔  GOOD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Full clean gowning; hair &amp; beard covered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Hands washed &amp; sanitised on entry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No jewellery, watch or phone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2E9E6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Wounds covered; ill staff reassigned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44805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166360" cy="548640"/>
          </a:xfrm>
          <a:prstGeom prst="round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166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✘  BAD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Hair/beard exposed; sleeves rolled up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Jewellery, watch, false nails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Phone in pocket; eating near line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D0433B"/>
                </a:solidFill>
                <a:latin typeface="Aptos"/>
              </a:rPr>
              <a:t>•  </a:t>
            </a:r>
            <a:r>
              <a:rPr sz="1300">
                <a:solidFill>
                  <a:srgbClr val="2B2F38"/>
                </a:solidFill>
                <a:latin typeface="Aptos"/>
              </a:rPr>
              <a:t>Working with cuts/cold; no reporting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GROUP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Activity — Gowning &amp; Handwash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7680960" cy="44348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44348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7223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7223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In pairs, one gowns while the other audits against a checklist.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Demonstrate the correct hand-wash sequence.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List every violation you observed.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Agree the correct sequence as a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72237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Deliverable: </a:t>
            </a:r>
            <a:r>
              <a:rPr sz="1300" b="0">
                <a:solidFill>
                  <a:srgbClr val="2B2F38"/>
                </a:solidFill>
                <a:latin typeface="Aptos"/>
              </a:rPr>
              <a:t>A completed gowning/hand-hygiene audit 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783080"/>
            <a:ext cx="2834640" cy="4434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37744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020"/>
                </a:solidFill>
                <a:latin typeface="Aptos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17520"/>
            <a:ext cx="2834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840480"/>
            <a:ext cx="25603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2F0"/>
                </a:solidFill>
                <a:latin typeface="Aptos"/>
              </a:rPr>
              <a:t>Pairs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6 —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How often must food handlers undergo medical examination?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Only once, at retirement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Pre-employment and thereafter annually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Every five years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Never — not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MODULE 7 · GMP / GHP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Support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The systems behind the systems — pest, cleaning, calibration, QC, training, audits &amp; records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7 —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Run pest control, cleaning &amp; maintenance programmes.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Manage calibration and QC/testing facilities.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Control retention samples &amp; external testing.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Deliver training and internal audits.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Maintain the documentation an FBO must keep.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§7.1–7.2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Management, Supervision &amp; Sub-Contracting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Competent people and clear agreements underpin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Competence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Educated/trained/experienced managers &amp; supervisors.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Food-safety culture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Provide resources &amp; training; empower to 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Sub-contracting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Written technical agreement; responsibilities defined.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Confidentiality &amp;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Safeguards for formulae &amp; processes.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Pest Control Programme &amp; 4D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Deny pests entry, food, harbourage — and monitor relentlessly.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Nominated agency; target pests; approved chemicals;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4D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Deny access, Deny food/water, Deny harbourage, Destroy.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Prevent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Seal openings; screens; air curtains; door gaps closed.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Harbourage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clutter; storage off-floor/off-wall; clear surroundings.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Monitoring, Detection &amp; Eradication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Catch pests early; act fast; record everything.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Bait stations, snap/glue traps, insectocutors — numbered &amp; mapped.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Regular inspection; trend catches; daily trap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Eradication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Trained applicators; permissible agents; records of 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CAPA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Investigate infestations; fix root cause; fumigation per rules.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Cleaning &amp; Sanitation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Documented cleaning &amp; sanitation programme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Food-grade agents; correct dilution &amp; contact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Cleaning schedules per area/equipment; CIP where possible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Verify: visual, rinse, swab, air/surface 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Colour-coded tools; segregated chemical storage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Validated cleaning; effectiveness monitored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No cleaning records / verification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Chemicals in food containers; wrong dilution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§7.5–7.6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Housekeeping &amp; Waste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A clean, orderly plant is a controlled plant.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Housekeeping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Schedules for floors, walls, fixtures, surroundings &amp; drains.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Waste segregation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Bio vs non-bio; covered pedal bins; regular removal.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Drainage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Adequate, trapped, one-directional; prevents backflow.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Disposal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Per Pollution Control Board / local rules; records.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§7.5.4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Preventive maintenance keeps food-safety equipment reliable.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Preventive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Scheduled PM for monitoring/control devices &amp;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Corrective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contamination risk during repairs; post-repair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Food-grade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Food-grade lubricants where contact risk exists.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Loose-item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Nuts/bolts/tools controlled; breakdown records kept.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§7.3.10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Calibration &amp; Test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Unreliable measurements = unreliable safety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Every instrument tagged: ID, cal date, due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Internal &amp; external calibration schedule maintained.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Traceable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Calibrated to traceable standards.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Reaction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If found out-of-cal — assess impact on batches.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Quality Control &amp; Testing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QC turns specifications into pass/fail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Specs &amp;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Authorised specs for RM/PM/IP/FG; validated methods (AOAC/USP/FCC).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Personnel &amp;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Trained staff; equipped, calibrated lab; micro separate from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In-house or FSSAI-notified accredited external lab.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Test records for incoming, in-process &amp; FG.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§7.3.5–7.3.7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Analysis, Validation &amp; Retention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Validated analysis and retained samples support every release.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Validation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Specificity, recovery, precision, linearity, accuracy, LOD/LOQ.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Reagents &amp;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Labelled, dated, stored; reference standards controlled.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Retention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Key RM &amp; FG in same/simulated market pack, per shelf life.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Signed records; retained per shelf life + defined period.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§7.3.8–7.3.9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External Lab &amp; Contaminant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Use accredited labs for what you can't test in-house.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Accreditation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National/international (ISO/IEC 17025) accredited.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Scope &amp;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Defined services, responsibilities &amp; scope.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Contaminants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Heavy metals, mycotoxins, pesticides; micro pathogens.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Trend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Periodic trending of results.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Training, Awareness &amp; Competence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Trained people are the FSMS — including FoSTaC-certified supervisors.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Induction + role-based GMP/GHP training for all handlers.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FoSTaC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Certified Food Safety Supervisor(s) per required ratio.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Date, topic, trainer, duration, signatures; effectiveness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Refresher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Periodic refresher &amp; re-training on change.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§7.8.1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Internal Audits &amp; Self-Inspection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Audit FSMS implementation at least annually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Cover premises, equipment, production, QC, distribution, docs, complaints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Competent, independent auditors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Findings recorded; CAPA with timelines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GOOD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Risk-based, unannounced spot checks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Verify CAPA effectiveness; trend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D0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0433B"/>
                </a:solidFill>
                <a:latin typeface="Poppins"/>
              </a:rPr>
              <a:t>COMMON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Audit as a paperwork tick-box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D0433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CAPA not closed or not effective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§7.8.2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Documentation &amp;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Records prove control — keep the right ones, 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Manufacturing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BMR/MFR, BOM, process flow, packaging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Incoming checks, IPC, cleaning, pest, calibration, medical,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Traceability &amp; complaints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Recall, traceability, complaints, CAPA, internal audits.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Contemporaneous, signed, legible, retained; no back-filling.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7 —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What does the pest-control '4D' approach stand for?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Detect, Deploy, Destroy, Document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Deny access, Deny food/water, Deny harbourage, Destroy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Design, Develop, Deliver, Dispose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Dust, Disinfect, Drain, Dry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MODULE 8 · HACCP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HACCP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From prerequisite programmes to a working HACCP plan for your product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Module 8 —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Distinguish PRPs from HACCP.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0281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0281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710281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710281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Apply the 5 preliminary steps and 7 principles.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37483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7483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3637483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7483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Identify biological, chemical &amp; physical hazards.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64684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64684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564684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564684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Determine CCPs, critical limits &amp; monitoring.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91886"/>
            <a:ext cx="502920" cy="817473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91886"/>
            <a:ext cx="50292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491886"/>
            <a:ext cx="10149840" cy="817473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491886"/>
            <a:ext cx="9692640" cy="817473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2B2F38"/>
                </a:solidFill>
                <a:latin typeface="Aptos"/>
              </a:rPr>
              <a:t>Build and document a HACCP plan for a nutraceutical product.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FOUNDATIONS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PRPs vs HACCP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HACCP sits on top of solid prerequisite programmes (Modules 1–7).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Prerequisites (PRPs)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GMP, GHP, SSOPs — the baseline conditions &amp; practices.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HACCP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Targets specific significant hazards at specific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OPRPs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Operational PRPs — control measures important but not full CCPs.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Relationship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Weak PRPs overload HACCP; strong PRPs let HACCP focus.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5 STEPS + 7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HACCP Overview —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HACCP is a systematic, preventive, science-based method (Codex).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Preventive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Designs safety in; aims to minimise, not inspect-out.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5 preliminary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Team, product, use, flow diagram, on-site confirmation.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7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Hazard analysis → CCPs → limits → monitoring → corrective → verification →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Living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Reviewed at least annually and on change.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BEFORE THE 7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The 5 Preliminary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Multidisciplinary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Describe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Composition, Aw/pH, treatment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Intended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Users incl. vulnerable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Flow diagram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All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Confirm on-site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Verify vs reality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Get these right first — a wrong flow diagram invalidates the whole hazard analysis.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PRINCIPLE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Principle 1 — Hazard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List every hazard at every step; decide which are significant.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Physical, chemical, biological hazards per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Likelihood × severity; is it significant?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Control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Existing/needed measures for each significant hazard.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Hazard analysis table — the basis for CCP decisions.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PRINCIPLE 1 — HAZARDS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Biological Hazards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Microbial contamination is the leading nutraceutical safety hazard.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Pathogens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Salmonella, E. coli, Staph. aureus.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Coliforms, Enterobacteria, Total Plate 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Spoilage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Yeasts &amp; moulds — esp. liquids, gummies, high-Aw.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Water quality, hygiene, RH, heat/UV, preservative, sieving.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PRINCIPLE 1 — HAZARDS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Chemical Hazards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Chemical hazards enter via inputs, residues and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Contaminants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Heavy metals (Pb, Cd, Hg, As); mycotoxins (aflatoxin).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Residues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Pesticides; residual solvents; cleaning-chemical carry-over.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Allergens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The 8 major allergens — treated as chemical hazard.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Supplier control, testing, cleaning validation, segregation.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PRINCIPLE 1 — HAZARDS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Physical Hazards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Foreign matter that can injure the consumer.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Metal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From worn sieves, punches, machinery.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Glass/hard plastic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From fixtures, containers, packaging.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Foreign 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Dust, hair, pests, fragments.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Sieving, magnetic grill, metal detection, GMP, maintenance.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SEVERITY × LIKELIHOOD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Risk Assessment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Rank hazards to focus control where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Minor → Major → Critical health impact.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Likelihood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Low → Medium → High occurrence.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Significance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High severity × likelihood = significant hazard →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Significant hazards proceed to CCP determination.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Principle 2 — CCP Determination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Control measure exists?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Step eliminates/reduces hazard?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Contamination could exceed limit?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Later step controls it?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246120"/>
            <a:ext cx="320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020"/>
                </a:solidFill>
                <a:latin typeface="Montserra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743200"/>
            <a:ext cx="2011680" cy="16459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743200"/>
            <a:ext cx="2011680" cy="45720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2788920"/>
            <a:ext cx="2011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91840"/>
            <a:ext cx="17922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D2E7A"/>
                </a:solidFill>
                <a:latin typeface="Poppins"/>
              </a:rPr>
              <a:t>Decide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703320"/>
            <a:ext cx="179222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B2F38"/>
                </a:solidFill>
                <a:latin typeface="Aptos"/>
              </a:rPr>
              <a:t>CCP or not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83C4"/>
                </a:solidFill>
                <a:latin typeface="Aptos"/>
              </a:rPr>
              <a:t>Use the Codex decision tree flexibly. A CCP is a step where control is essential and applied.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MEASURABLE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Principle 3 — Critical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Each CCP needs measurable, validated critical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Measurable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Objective &amp; monitorable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Sieve integrity (defined mesh); metal detector Fe/N-Fe/SS sensitivity.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Based on science/regulation; justified.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More than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 step may have multiple limits.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KEEP THE CCP IN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Principle 4 —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Monitor each CCP to detect loss of control in time to 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What &amp; 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The measurement/observation and method.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Frequency — continuous or defined interval.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Who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Trained, authorised person.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Signed monitoring records for every CCP.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WHEN A LIMIT IS BREACHED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Principle 5 — Corrective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Plan what to do before a deviation happens.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Regain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Bring the CCP back within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Product 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Hold, re-process, or reject affected product.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Root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Investigate; prevent recurrence (CAPA).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Deviation &amp; disposition documented.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PROVE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Principle 6 — Verification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Confirm the HACCP system is valid and working.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Evidence the plan controls the identified hazards.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Reviews, calibration, testing, record checks — by an independent person.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Sufficient to confirm effectiveness; annual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Change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Re-verify/validate on product/process change.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RECORDS &amp; THE HACCP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Principle 7 —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Document the system and keep the records that prove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The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Team, product, use, flow, hazard analysis, CCPs, limits, monitoring, corrective,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CCP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Monitoring, deviations, corrective actions,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Proportionate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Appropriate to size &amp; nature of operation.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Retained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Contemporaneous, signed, retained per policy.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Worked Example — Tablet Line HACCP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196596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HAZARD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Physical: metal fragments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D2E7A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Physical: foreign matter (oversize/contam.)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166360" cy="196596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91440" cy="1965960"/>
          </a:xfrm>
          <a:prstGeom prst="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83C4"/>
                </a:solidFill>
                <a:latin typeface="Poppins"/>
              </a:rPr>
              <a:t>CCP &amp;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31720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CCP-1 Sieve integrity — defined mesh, intact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6B83C4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CCP-2 Metal detector — Fe/N-Fe/SS sensitivity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77639"/>
            <a:ext cx="5166360" cy="1965960"/>
          </a:xfrm>
          <a:prstGeom prst="round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91440" cy="1965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9E6B"/>
                </a:solidFill>
                <a:latin typeface="Poppins"/>
              </a:rPr>
              <a:t>MONITOR &amp; 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Sieve check pre/post; detector challenged each shift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9E6B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Breach → hold lot, re-sieve/re-pass, RCA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39"/>
            <a:ext cx="5166360" cy="1965960"/>
          </a:xfrm>
          <a:prstGeom prst="roundRect">
            <a:avLst/>
          </a:prstGeom>
          <a:solidFill>
            <a:srgbClr val="FBE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39"/>
            <a:ext cx="91440" cy="196596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4105655"/>
            <a:ext cx="4709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8A020"/>
                </a:solidFill>
                <a:latin typeface="Poppins"/>
              </a:rPr>
              <a:t>VERIFY &amp;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526279"/>
            <a:ext cx="4709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A020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Record review; detector challenge logs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A020"/>
                </a:solidFill>
                <a:latin typeface="Aptos"/>
              </a:rPr>
              <a:t>•  </a:t>
            </a:r>
            <a:r>
              <a:rPr sz="1150">
                <a:solidFill>
                  <a:srgbClr val="2B2F38"/>
                </a:solidFill>
                <a:latin typeface="Aptos"/>
              </a:rPr>
              <a:t>Twice-yearly system review by FSMS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GROUP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Workshop — Build a HACCP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7680960" cy="44348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44348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7223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7223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Each group takes a product (tablet / powder / liquid / gummy).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Do a hazard analysis for 4–5 key steps.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Determine CCPs using the decision tree.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Set critical limits, monitoring &amp; corrective actions.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Present your one-page HACCP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72237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Deliverable: </a:t>
            </a:r>
            <a:r>
              <a:rPr sz="1300" b="0">
                <a:solidFill>
                  <a:srgbClr val="2B2F38"/>
                </a:solidFill>
                <a:latin typeface="Aptos"/>
              </a:rPr>
              <a:t>A one-page HACCP plan (hazard → CCP → limit → monitor → correct).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783080"/>
            <a:ext cx="2834640" cy="4434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37744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020"/>
                </a:solidFill>
                <a:latin typeface="Aptos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17520"/>
            <a:ext cx="2834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20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840480"/>
            <a:ext cx="25603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2F0"/>
                </a:solidFill>
                <a:latin typeface="Aptos"/>
              </a:rPr>
              <a:t>Groups by product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MODULE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BRINGING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Course Recap — The FSMS 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828800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Foundation: regulatory framework — FSS Act, FSSAI, Schedule 4, HSN &amp; labelling.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670048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670048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Pillars: GMP/GHP — facilities, materials, processing, production, packaging, hygiene,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11296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11296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511296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Roof: HACCP — systematic hazard control on top of strong PRPs.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52544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352544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352544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Cement: documentation, traceability, audits &amp; CAPA holding it together.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93792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93792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193792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5193792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Occupant: you — the Food Safety Supervisor — who keeps it standing every day.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NUTRACEUTICAL-SPECIFIC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Top Audit Observations to 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The findings inspectors and customers raise most often.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Materials &amp;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No CoA/heavy-metal/identity testing; expired AVL; status mix-ups.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Environment &amp;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Missing water (IS 10500), calibration, cleaning or medical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Production &amp; CCPs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Sieve/metal-detector CCPs unverified; uncontrolled rework; allergen carry-over.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Labelling &amp; 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Wrong/absent declarations; no mock recall; untested recall plan.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TAKE THIS TO THE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Participant Takeaways — Your Job Aid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828800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Verify every input: approved supplier, CoA, identity &amp; contaminant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70048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670048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670048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Hold the environment: ISO 8/RLAF ISO 5, ≤25°C, RH 60±5%, 0.5 mm WC, correct lux.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11296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511296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511296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Control the process: line clearance, IPC, sieve integrity &amp; metal detection.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52544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352544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352544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Manage people: annual medicals, gowning, hand hygiene, behaviour.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93792"/>
            <a:ext cx="548640" cy="658368"/>
          </a:xfrm>
          <a:prstGeom prst="round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93792"/>
            <a:ext cx="548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193792"/>
            <a:ext cx="101041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5193792"/>
            <a:ext cx="96926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2B2F38"/>
                </a:solidFill>
                <a:latin typeface="Aptos"/>
              </a:rPr>
              <a:t>Prove it: records, calibration, internal audits, mock recall &amp; CAPA.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Final Assessment — 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7680960" cy="443484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91440" cy="44348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7223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020"/>
                </a:solidFill>
                <a:latin typeface="Poppins"/>
              </a:rP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7223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30 questions covering all sections &amp; modules.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Multiple-choice + scenario questions.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Pass mark as per FoSTaC certification criteria.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1D2E7A"/>
                </a:solidFill>
                <a:latin typeface="Aptos"/>
              </a:rPr>
              <a:t>•  </a:t>
            </a:r>
            <a:r>
              <a:rPr sz="1350">
                <a:solidFill>
                  <a:srgbClr val="2B2F38"/>
                </a:solidFill>
                <a:latin typeface="Aptos"/>
              </a:rPr>
              <a:t>Closed-book; ask if any question is unclear.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72237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D2E7A"/>
                </a:solidFill>
                <a:latin typeface="Poppins"/>
              </a:rPr>
              <a:t>Deliverable: </a:t>
            </a:r>
            <a:r>
              <a:rPr sz="1300" b="0">
                <a:solidFill>
                  <a:srgbClr val="2B2F38"/>
                </a:solidFill>
                <a:latin typeface="Aptos"/>
              </a:rPr>
              <a:t>Completed assessment 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783080"/>
            <a:ext cx="2834640" cy="4434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37744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020"/>
                </a:solidFill>
                <a:latin typeface="Aptos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17520"/>
            <a:ext cx="28346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840480"/>
            <a:ext cx="25603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7D2F0"/>
                </a:solidFill>
                <a:latin typeface="Aptos"/>
              </a:rPr>
              <a:t>Individual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HOW YOU GET CERTIFIED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Certification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FoSTaC certification requires participation and a passing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Full attendance of the training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Achieve the required pass mark in the 30-Q assessment.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FoSTaC training record captured by the trainer/partner.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Validity &amp; renewal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Certificate validity per FSSAI FoSTaC norms; refresh as required.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AFTER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Continuous Improvement &amp;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83C4"/>
                </a:solidFill>
                <a:latin typeface="Aptos"/>
              </a:rPr>
              <a:t>Compliance is a journey — keep learning and stay current.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FoSCoS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Licensing, product approvals &amp; KoB (incl. Ayurveda Aahara).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450592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Stay current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44368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FSSAI advisories, schedule amendments, claims &amp; labelling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Internal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Run internal audits, mock recalls &amp; CAPA continuously.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349240" cy="1874520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434840"/>
            <a:ext cx="91440" cy="1874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599431"/>
            <a:ext cx="4892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D2E7A"/>
                </a:solidFill>
                <a:latin typeface="Poppins"/>
              </a:rPr>
              <a:t>Knowledge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5093207"/>
            <a:ext cx="4892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B2F38"/>
                </a:solidFill>
                <a:latin typeface="Aptos"/>
              </a:rPr>
              <a:t>Maintain SOPs, records &amp; a living FSMS.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6858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83C4"/>
                </a:solidFill>
                <a:latin typeface="Poppins"/>
              </a:rPr>
              <a:t>WRAP-UP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D2E7A"/>
                </a:solidFill>
                <a:latin typeface="Montserrat"/>
              </a:rPr>
              <a:t>Final Knowledge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789920" cy="1005840"/>
          </a:xfrm>
          <a:prstGeom prst="round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3327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Montserrat"/>
              </a:rPr>
              <a:t>Q.  </a:t>
            </a:r>
            <a:r>
              <a:rPr sz="1600" b="1">
                <a:solidFill>
                  <a:srgbClr val="FFFFFF"/>
                </a:solidFill>
                <a:latin typeface="Poppins"/>
              </a:rPr>
              <a:t>Which combination best summarises a compliant nutraceutical FSMS?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Good marketing + fast dispatch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5020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Strong PRPs (GMP/GHP) + HACCP + documentation, traceability &amp;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17720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72744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915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A wall certificate + annual audit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94959"/>
            <a:ext cx="10789920" cy="658368"/>
          </a:xfrm>
          <a:prstGeom prst="round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438912" cy="438912"/>
          </a:xfrm>
          <a:prstGeom prst="roundRect">
            <a:avLst/>
          </a:prstGeom>
          <a:solidFill>
            <a:srgbClr val="6B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399"/>
            <a:ext cx="43891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79"/>
            <a:ext cx="97840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2F38"/>
                </a:solidFill>
                <a:latin typeface="Aptos"/>
              </a:rPr>
              <a:t>Low price + high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19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3A6"/>
                </a:solidFill>
                <a:latin typeface="Aptos"/>
              </a:rPr>
              <a:t>Answer &amp; rationale in speaker notes.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83C4"/>
                </a:solidFill>
                <a:latin typeface="Poppins"/>
              </a:rPr>
              <a:t>FoSTaC · FSMS for Health Supplements &amp; Nutraceuticals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565392"/>
            <a:ext cx="1828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83C4"/>
                </a:solidFill>
                <a:latin typeface="Poppins"/>
              </a:rPr>
              <a:t>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D2E7A"/>
                </a:solidFill>
                <a:latin typeface="Poppins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554480" cy="82296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A020"/>
                </a:solidFill>
                <a:latin typeface="Poppi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ontserrat"/>
              </a:rPr>
              <a:t>Thank You &amp; Stay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7D2F0"/>
                </a:solidFill>
                <a:latin typeface="Aptos"/>
              </a:rPr>
              <a:t>You are the frontline of food safety for millions of consumers — lead it well.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